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89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648"/>
  </p:normalViewPr>
  <p:slideViewPr>
    <p:cSldViewPr snapToGrid="0">
      <p:cViewPr varScale="1">
        <p:scale>
          <a:sx n="102" d="100"/>
          <a:sy n="102" d="100"/>
        </p:scale>
        <p:origin x="12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4816FF9-F4D8-C949-83CC-BBF082DD654B}" type="datetimeFigureOut">
              <a:rPr lang="fr-FR" smtClean="0"/>
              <a:t>10/10/2026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1366906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16FF9-F4D8-C949-83CC-BBF082DD654B}" type="datetimeFigureOut">
              <a:rPr lang="fr-FR" smtClean="0"/>
              <a:t>10/10/2026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1930078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4816FF9-F4D8-C949-83CC-BBF082DD654B}" type="datetimeFigureOut">
              <a:rPr lang="fr-FR" smtClean="0"/>
              <a:t>10/10/2026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2691340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4816FF9-F4D8-C949-83CC-BBF082DD654B}" type="datetimeFigureOut">
              <a:rPr lang="fr-FR" smtClean="0"/>
              <a:t>10/10/2026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3272696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2329" y="2505075"/>
            <a:ext cx="4190702"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14913" y="2505075"/>
            <a:ext cx="4211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4816FF9-F4D8-C949-83CC-BBF082DD654B}" type="datetimeFigureOut">
              <a:rPr lang="fr-FR" smtClean="0"/>
              <a:t>10/10/2026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3179110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4816FF9-F4D8-C949-83CC-BBF082DD654B}" type="datetimeFigureOut">
              <a:rPr lang="fr-FR" smtClean="0"/>
              <a:t>10/10/2026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3121308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16FF9-F4D8-C949-83CC-BBF082DD654B}" type="datetimeFigureOut">
              <a:rPr lang="fr-FR" smtClean="0"/>
              <a:t>10/10/2026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1063438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4816FF9-F4D8-C949-83CC-BBF082DD654B}" type="datetimeFigureOut">
              <a:rPr lang="fr-FR" smtClean="0"/>
              <a:t>10/10/2026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80837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4816FF9-F4D8-C949-83CC-BBF082DD654B}" type="datetimeFigureOut">
              <a:rPr lang="fr-FR" smtClean="0"/>
              <a:t>10/10/2026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4291020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16FF9-F4D8-C949-83CC-BBF082DD654B}" type="datetimeFigureOut">
              <a:rPr lang="fr-FR" smtClean="0"/>
              <a:t>10/10/2026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255008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4816FF9-F4D8-C949-83CC-BBF082DD654B}" type="datetimeFigureOut">
              <a:rPr lang="fr-FR" smtClean="0"/>
              <a:t>10/10/2026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431E62E-4618-3845-84E0-D1D5597BB7ED}" type="slidenum">
              <a:rPr lang="fr-FR" smtClean="0"/>
              <a:t>‹N°›</a:t>
            </a:fld>
            <a:endParaRPr lang="fr-FR"/>
          </a:p>
        </p:txBody>
      </p:sp>
    </p:spTree>
    <p:extLst>
      <p:ext uri="{BB962C8B-B14F-4D97-AF65-F5344CB8AC3E}">
        <p14:creationId xmlns:p14="http://schemas.microsoft.com/office/powerpoint/2010/main" val="3174536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816FF9-F4D8-C949-83CC-BBF082DD654B}" type="datetimeFigureOut">
              <a:rPr lang="fr-FR" smtClean="0"/>
              <a:t>10/10/2026</a:t>
            </a:fld>
            <a:endParaRPr lang="fr-FR"/>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31E62E-4618-3845-84E0-D1D5597BB7ED}" type="slidenum">
              <a:rPr lang="fr-FR" smtClean="0"/>
              <a:t>‹N°›</a:t>
            </a:fld>
            <a:endParaRPr lang="fr-FR"/>
          </a:p>
        </p:txBody>
      </p:sp>
    </p:spTree>
    <p:extLst>
      <p:ext uri="{BB962C8B-B14F-4D97-AF65-F5344CB8AC3E}">
        <p14:creationId xmlns:p14="http://schemas.microsoft.com/office/powerpoint/2010/main" val="1154995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org&amp;utm_campaign=index&amp;utm_content=original"/><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Earth’s observed cloud-free transit transmission spectrum from Macdonald &amp; Cowan (2019) binned to a resolution of ∆λ = 0.02 µm and fit using smarter. The data are shown in black, the best-fitting model (Model 1) spectrum is shown in white and blue, and various colors are used to indicate each molecule’s contribution to the model spectrum. The most prominent features are due to CO2 and O3, but a rich diversity of habitability indicators, biosignatures, and technosignatures are present. -- astro-ph.EP">
            <a:extLst>
              <a:ext uri="{FF2B5EF4-FFF2-40B4-BE49-F238E27FC236}">
                <a16:creationId xmlns:a16="http://schemas.microsoft.com/office/drawing/2014/main" id="{9027AF3A-C7F0-E5E4-B685-C18AC9FE5500}"/>
              </a:ext>
            </a:extLst>
          </p:cNvPr>
          <p:cNvPicPr>
            <a:picLocks noChangeAspect="1"/>
          </p:cNvPicPr>
          <p:nvPr/>
        </p:nvPicPr>
        <p:blipFill>
          <a:blip r:embed="rId2"/>
          <a:srcRect l="5397" t="12822" r="8273" b="17363"/>
          <a:stretch>
            <a:fillRect/>
          </a:stretch>
        </p:blipFill>
        <p:spPr>
          <a:xfrm>
            <a:off x="0" y="4444543"/>
            <a:ext cx="5297830" cy="2413457"/>
          </a:xfrm>
          <a:prstGeom prst="rect">
            <a:avLst/>
          </a:prstGeom>
        </p:spPr>
      </p:pic>
      <p:sp>
        <p:nvSpPr>
          <p:cNvPr id="6" name="ZoneTexte 5">
            <a:extLst>
              <a:ext uri="{FF2B5EF4-FFF2-40B4-BE49-F238E27FC236}">
                <a16:creationId xmlns:a16="http://schemas.microsoft.com/office/drawing/2014/main" id="{046C1C38-B8F4-3511-A885-1221F83DF186}"/>
              </a:ext>
            </a:extLst>
          </p:cNvPr>
          <p:cNvSpPr txBox="1"/>
          <p:nvPr/>
        </p:nvSpPr>
        <p:spPr>
          <a:xfrm>
            <a:off x="4965332" y="947546"/>
            <a:ext cx="4220408" cy="1169551"/>
          </a:xfrm>
          <a:prstGeom prst="rect">
            <a:avLst/>
          </a:prstGeom>
          <a:noFill/>
        </p:spPr>
        <p:txBody>
          <a:bodyPr wrap="square" rtlCol="0">
            <a:spAutoFit/>
          </a:bodyPr>
          <a:lstStyle/>
          <a:p>
            <a:r>
              <a:rPr lang="fr-FR" sz="1400" dirty="0" err="1">
                <a:solidFill>
                  <a:schemeClr val="accent5">
                    <a:lumMod val="50000"/>
                  </a:schemeClr>
                </a:solidFill>
                <a:latin typeface="Congenial" panose="02000503040000020004" pitchFamily="2" charset="0"/>
              </a:rPr>
              <a:t>Espectro</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del</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exoplaneta</a:t>
            </a:r>
            <a:r>
              <a:rPr lang="fr-FR" sz="1400" dirty="0">
                <a:solidFill>
                  <a:schemeClr val="accent5">
                    <a:lumMod val="50000"/>
                  </a:schemeClr>
                </a:solidFill>
                <a:latin typeface="Congenial" panose="02000503040000020004" pitchFamily="2" charset="0"/>
              </a:rPr>
              <a:t> WASP-39b, un </a:t>
            </a:r>
            <a:r>
              <a:rPr lang="fr-FR" sz="1400" dirty="0" err="1">
                <a:solidFill>
                  <a:schemeClr val="accent5">
                    <a:lumMod val="50000"/>
                  </a:schemeClr>
                </a:solidFill>
                <a:latin typeface="Congenial" panose="02000503040000020004" pitchFamily="2" charset="0"/>
              </a:rPr>
              <a:t>exoplaneta</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más</a:t>
            </a:r>
            <a:r>
              <a:rPr lang="fr-FR" sz="1400" dirty="0">
                <a:solidFill>
                  <a:schemeClr val="accent5">
                    <a:lumMod val="50000"/>
                  </a:schemeClr>
                </a:solidFill>
                <a:latin typeface="Congenial" panose="02000503040000020004" pitchFamily="2" charset="0"/>
              </a:rPr>
              <a:t> grande que Júpiter.</a:t>
            </a:r>
          </a:p>
          <a:p>
            <a:endParaRPr lang="fr-FR" sz="1400" dirty="0">
              <a:solidFill>
                <a:schemeClr val="accent5">
                  <a:lumMod val="50000"/>
                </a:schemeClr>
              </a:solidFill>
              <a:latin typeface="Congenial" panose="02000503040000020004" pitchFamily="2" charset="0"/>
            </a:endParaRPr>
          </a:p>
          <a:p>
            <a:r>
              <a:rPr lang="fr-FR" sz="1400" dirty="0">
                <a:solidFill>
                  <a:schemeClr val="accent5">
                    <a:lumMod val="50000"/>
                  </a:schemeClr>
                </a:solidFill>
                <a:latin typeface="Congenial" panose="02000503040000020004" pitchFamily="2" charset="0"/>
              </a:rPr>
              <a:t>La </a:t>
            </a:r>
            <a:r>
              <a:rPr lang="fr-FR" sz="1400" dirty="0" err="1">
                <a:solidFill>
                  <a:schemeClr val="accent5">
                    <a:lumMod val="50000"/>
                  </a:schemeClr>
                </a:solidFill>
                <a:latin typeface="Congenial" panose="02000503040000020004" pitchFamily="2" charset="0"/>
              </a:rPr>
              <a:t>atmósfera</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contiene</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dióxido</a:t>
            </a:r>
            <a:r>
              <a:rPr lang="fr-FR" sz="1400" dirty="0">
                <a:solidFill>
                  <a:schemeClr val="accent5">
                    <a:lumMod val="50000"/>
                  </a:schemeClr>
                </a:solidFill>
                <a:latin typeface="Congenial" panose="02000503040000020004" pitchFamily="2" charset="0"/>
              </a:rPr>
              <a:t> de </a:t>
            </a:r>
            <a:r>
              <a:rPr lang="fr-FR" sz="1400" dirty="0" err="1">
                <a:solidFill>
                  <a:schemeClr val="accent5">
                    <a:lumMod val="50000"/>
                  </a:schemeClr>
                </a:solidFill>
                <a:latin typeface="Congenial" panose="02000503040000020004" pitchFamily="2" charset="0"/>
              </a:rPr>
              <a:t>carbono</a:t>
            </a:r>
            <a:r>
              <a:rPr lang="fr-FR" sz="1400" dirty="0">
                <a:solidFill>
                  <a:schemeClr val="accent5">
                    <a:lumMod val="50000"/>
                  </a:schemeClr>
                </a:solidFill>
                <a:latin typeface="Congenial" panose="02000503040000020004" pitchFamily="2" charset="0"/>
              </a:rPr>
              <a:t> (CO</a:t>
            </a:r>
            <a:r>
              <a:rPr lang="fr-FR" sz="1400" baseline="-25000" dirty="0">
                <a:solidFill>
                  <a:schemeClr val="accent5">
                    <a:lumMod val="50000"/>
                  </a:schemeClr>
                </a:solidFill>
                <a:latin typeface="Congenial" panose="02000503040000020004" pitchFamily="2" charset="0"/>
              </a:rPr>
              <a:t>2</a:t>
            </a:r>
            <a:r>
              <a:rPr lang="fr-FR" sz="1400" dirty="0">
                <a:solidFill>
                  <a:schemeClr val="accent5">
                    <a:lumMod val="50000"/>
                  </a:schemeClr>
                </a:solidFill>
                <a:latin typeface="Congenial" panose="02000503040000020004" pitchFamily="2" charset="0"/>
              </a:rPr>
              <a:t>), </a:t>
            </a:r>
            <a:r>
              <a:rPr lang="fr-FR" sz="1400" dirty="0" err="1">
                <a:solidFill>
                  <a:schemeClr val="accent5">
                    <a:lumMod val="50000"/>
                  </a:schemeClr>
                </a:solidFill>
                <a:latin typeface="Congenial" panose="02000503040000020004" pitchFamily="2" charset="0"/>
              </a:rPr>
              <a:t>dióxido</a:t>
            </a:r>
            <a:r>
              <a:rPr lang="fr-FR" sz="1400" dirty="0">
                <a:solidFill>
                  <a:schemeClr val="accent5">
                    <a:lumMod val="50000"/>
                  </a:schemeClr>
                </a:solidFill>
                <a:latin typeface="Congenial" panose="02000503040000020004" pitchFamily="2" charset="0"/>
              </a:rPr>
              <a:t> de </a:t>
            </a:r>
            <a:r>
              <a:rPr lang="fr-FR" sz="1400" dirty="0" err="1">
                <a:solidFill>
                  <a:schemeClr val="accent5">
                    <a:lumMod val="50000"/>
                  </a:schemeClr>
                </a:solidFill>
                <a:latin typeface="Congenial" panose="02000503040000020004" pitchFamily="2" charset="0"/>
              </a:rPr>
              <a:t>azufre</a:t>
            </a:r>
            <a:r>
              <a:rPr lang="fr-FR" sz="1400" dirty="0">
                <a:solidFill>
                  <a:schemeClr val="accent5">
                    <a:lumMod val="50000"/>
                  </a:schemeClr>
                </a:solidFill>
                <a:latin typeface="Congenial" panose="02000503040000020004" pitchFamily="2" charset="0"/>
              </a:rPr>
              <a:t> (SO</a:t>
            </a:r>
            <a:r>
              <a:rPr lang="fr-FR" sz="1400" baseline="-25000" dirty="0">
                <a:solidFill>
                  <a:schemeClr val="accent5">
                    <a:lumMod val="50000"/>
                  </a:schemeClr>
                </a:solidFill>
                <a:latin typeface="Congenial" panose="02000503040000020004" pitchFamily="2" charset="0"/>
              </a:rPr>
              <a:t>2</a:t>
            </a:r>
            <a:r>
              <a:rPr lang="fr-FR" sz="1400" dirty="0">
                <a:solidFill>
                  <a:schemeClr val="accent5">
                    <a:lumMod val="50000"/>
                  </a:schemeClr>
                </a:solidFill>
                <a:latin typeface="Congenial" panose="02000503040000020004" pitchFamily="2" charset="0"/>
              </a:rPr>
              <a:t>) y... ¡</a:t>
            </a:r>
            <a:r>
              <a:rPr lang="fr-FR" sz="1400" dirty="0" err="1">
                <a:solidFill>
                  <a:schemeClr val="accent5">
                    <a:lumMod val="50000"/>
                  </a:schemeClr>
                </a:solidFill>
                <a:latin typeface="Congenial" panose="02000503040000020004" pitchFamily="2" charset="0"/>
              </a:rPr>
              <a:t>agua</a:t>
            </a:r>
            <a:r>
              <a:rPr lang="fr-FR" sz="1400" dirty="0">
                <a:solidFill>
                  <a:schemeClr val="accent5">
                    <a:lumMod val="50000"/>
                  </a:schemeClr>
                </a:solidFill>
                <a:latin typeface="Congenial" panose="02000503040000020004" pitchFamily="2" charset="0"/>
              </a:rPr>
              <a:t>! (H</a:t>
            </a:r>
            <a:r>
              <a:rPr lang="fr-FR" sz="1400" baseline="-25000" dirty="0">
                <a:solidFill>
                  <a:schemeClr val="accent5">
                    <a:lumMod val="50000"/>
                  </a:schemeClr>
                </a:solidFill>
                <a:latin typeface="Congenial" panose="02000503040000020004" pitchFamily="2" charset="0"/>
              </a:rPr>
              <a:t>2</a:t>
            </a:r>
            <a:r>
              <a:rPr lang="fr-FR" sz="1400" dirty="0">
                <a:solidFill>
                  <a:schemeClr val="accent5">
                    <a:lumMod val="50000"/>
                  </a:schemeClr>
                </a:solidFill>
                <a:latin typeface="Congenial" panose="02000503040000020004" pitchFamily="2" charset="0"/>
              </a:rPr>
              <a:t>O)</a:t>
            </a:r>
          </a:p>
        </p:txBody>
      </p:sp>
      <p:grpSp>
        <p:nvGrpSpPr>
          <p:cNvPr id="10" name="Groupe 9">
            <a:extLst>
              <a:ext uri="{FF2B5EF4-FFF2-40B4-BE49-F238E27FC236}">
                <a16:creationId xmlns:a16="http://schemas.microsoft.com/office/drawing/2014/main" id="{BA5B6324-1BA5-92E3-121E-59B9635906DB}"/>
              </a:ext>
            </a:extLst>
          </p:cNvPr>
          <p:cNvGrpSpPr/>
          <p:nvPr/>
        </p:nvGrpSpPr>
        <p:grpSpPr>
          <a:xfrm>
            <a:off x="720261" y="200218"/>
            <a:ext cx="4381005" cy="2346580"/>
            <a:chOff x="5110003" y="268134"/>
            <a:chExt cx="4381005" cy="2346580"/>
          </a:xfrm>
        </p:grpSpPr>
        <p:pic>
          <p:nvPicPr>
            <p:cNvPr id="4" name="Image 3" descr="The JWST-PRISM transmission spectrum of WASP-39b with key contributions to the atmospheric spectrum">
              <a:extLst>
                <a:ext uri="{FF2B5EF4-FFF2-40B4-BE49-F238E27FC236}">
                  <a16:creationId xmlns:a16="http://schemas.microsoft.com/office/drawing/2014/main" id="{DD688E57-269C-4035-3B8C-FFA35557E52A}"/>
                </a:ext>
              </a:extLst>
            </p:cNvPr>
            <p:cNvPicPr>
              <a:picLocks noChangeAspect="1"/>
            </p:cNvPicPr>
            <p:nvPr/>
          </p:nvPicPr>
          <p:blipFill>
            <a:blip r:embed="rId3"/>
            <a:stretch>
              <a:fillRect/>
            </a:stretch>
          </p:blipFill>
          <p:spPr>
            <a:xfrm>
              <a:off x="5110003" y="268134"/>
              <a:ext cx="4245070" cy="2346580"/>
            </a:xfrm>
            <a:prstGeom prst="rect">
              <a:avLst/>
            </a:prstGeom>
          </p:spPr>
        </p:pic>
        <p:sp>
          <p:nvSpPr>
            <p:cNvPr id="8" name="ZoneTexte 7">
              <a:extLst>
                <a:ext uri="{FF2B5EF4-FFF2-40B4-BE49-F238E27FC236}">
                  <a16:creationId xmlns:a16="http://schemas.microsoft.com/office/drawing/2014/main" id="{0E5270CF-5FE2-2D4A-529B-BB44EA8A8D36}"/>
                </a:ext>
              </a:extLst>
            </p:cNvPr>
            <p:cNvSpPr txBox="1"/>
            <p:nvPr/>
          </p:nvSpPr>
          <p:spPr>
            <a:xfrm>
              <a:off x="8000655" y="2383882"/>
              <a:ext cx="1490353" cy="230832"/>
            </a:xfrm>
            <a:prstGeom prst="rect">
              <a:avLst/>
            </a:prstGeom>
            <a:noFill/>
          </p:spPr>
          <p:txBody>
            <a:bodyPr wrap="square">
              <a:spAutoFit/>
            </a:bodyPr>
            <a:lstStyle/>
            <a:p>
              <a:r>
                <a:rPr lang="fr-FR" sz="900" dirty="0" err="1">
                  <a:solidFill>
                    <a:schemeClr val="accent4"/>
                  </a:solidFill>
                  <a:latin typeface="Congenial" panose="02000503040000020004" pitchFamily="2" charset="0"/>
                </a:rPr>
                <a:t>Rustamkulov</a:t>
              </a:r>
              <a:r>
                <a:rPr lang="fr-FR" sz="900" dirty="0">
                  <a:solidFill>
                    <a:schemeClr val="accent4"/>
                  </a:solidFill>
                  <a:latin typeface="Congenial" panose="02000503040000020004" pitchFamily="2" charset="0"/>
                </a:rPr>
                <a:t> et al 2023</a:t>
              </a:r>
              <a:endParaRPr lang="fr-FR" sz="1000" dirty="0">
                <a:solidFill>
                  <a:schemeClr val="accent4"/>
                </a:solidFill>
              </a:endParaRPr>
            </a:p>
          </p:txBody>
        </p:sp>
      </p:grpSp>
      <p:grpSp>
        <p:nvGrpSpPr>
          <p:cNvPr id="12" name="Groupe 11">
            <a:extLst>
              <a:ext uri="{FF2B5EF4-FFF2-40B4-BE49-F238E27FC236}">
                <a16:creationId xmlns:a16="http://schemas.microsoft.com/office/drawing/2014/main" id="{0043225F-D065-B75D-DEE7-485699513926}"/>
              </a:ext>
            </a:extLst>
          </p:cNvPr>
          <p:cNvGrpSpPr/>
          <p:nvPr/>
        </p:nvGrpSpPr>
        <p:grpSpPr>
          <a:xfrm>
            <a:off x="4245071" y="2633046"/>
            <a:ext cx="5438110" cy="1913868"/>
            <a:chOff x="0" y="2236180"/>
            <a:chExt cx="4245070" cy="1493994"/>
          </a:xfrm>
        </p:grpSpPr>
        <p:pic>
          <p:nvPicPr>
            <p:cNvPr id="9" name="Image 8" descr="Admiring the Atmospheric Egg Shell of Sub-Neptune TOI-270d | astrobites">
              <a:extLst>
                <a:ext uri="{FF2B5EF4-FFF2-40B4-BE49-F238E27FC236}">
                  <a16:creationId xmlns:a16="http://schemas.microsoft.com/office/drawing/2014/main" id="{631A6F1B-35D7-9DCF-3CBB-983A0B833372}"/>
                </a:ext>
              </a:extLst>
            </p:cNvPr>
            <p:cNvPicPr>
              <a:picLocks noChangeAspect="1"/>
            </p:cNvPicPr>
            <p:nvPr/>
          </p:nvPicPr>
          <p:blipFill>
            <a:blip r:embed="rId4"/>
            <a:stretch>
              <a:fillRect/>
            </a:stretch>
          </p:blipFill>
          <p:spPr>
            <a:xfrm>
              <a:off x="0" y="2236180"/>
              <a:ext cx="4245070" cy="1426078"/>
            </a:xfrm>
            <a:prstGeom prst="rect">
              <a:avLst/>
            </a:prstGeom>
          </p:spPr>
        </p:pic>
        <p:sp>
          <p:nvSpPr>
            <p:cNvPr id="11" name="ZoneTexte 10">
              <a:extLst>
                <a:ext uri="{FF2B5EF4-FFF2-40B4-BE49-F238E27FC236}">
                  <a16:creationId xmlns:a16="http://schemas.microsoft.com/office/drawing/2014/main" id="{A94F1965-821A-3EB2-E414-6545557201D4}"/>
                </a:ext>
              </a:extLst>
            </p:cNvPr>
            <p:cNvSpPr txBox="1"/>
            <p:nvPr/>
          </p:nvSpPr>
          <p:spPr>
            <a:xfrm>
              <a:off x="220338" y="3499342"/>
              <a:ext cx="1490353" cy="230832"/>
            </a:xfrm>
            <a:prstGeom prst="rect">
              <a:avLst/>
            </a:prstGeom>
            <a:noFill/>
          </p:spPr>
          <p:txBody>
            <a:bodyPr wrap="square">
              <a:spAutoFit/>
            </a:bodyPr>
            <a:lstStyle/>
            <a:p>
              <a:r>
                <a:rPr lang="fr-FR" sz="900" dirty="0">
                  <a:solidFill>
                    <a:schemeClr val="accent4"/>
                  </a:solidFill>
                  <a:latin typeface="Congenial" panose="02000503040000020004" pitchFamily="2" charset="0"/>
                </a:rPr>
                <a:t>Benneke et al 2024</a:t>
              </a:r>
              <a:endParaRPr lang="fr-FR" sz="1000" dirty="0">
                <a:solidFill>
                  <a:schemeClr val="accent4"/>
                </a:solidFill>
              </a:endParaRPr>
            </a:p>
          </p:txBody>
        </p:sp>
      </p:grpSp>
      <p:sp>
        <p:nvSpPr>
          <p:cNvPr id="13" name="ZoneTexte 12">
            <a:extLst>
              <a:ext uri="{FF2B5EF4-FFF2-40B4-BE49-F238E27FC236}">
                <a16:creationId xmlns:a16="http://schemas.microsoft.com/office/drawing/2014/main" id="{92536184-51F4-852B-2569-3694EE36B8DD}"/>
              </a:ext>
            </a:extLst>
          </p:cNvPr>
          <p:cNvSpPr txBox="1"/>
          <p:nvPr/>
        </p:nvSpPr>
        <p:spPr>
          <a:xfrm>
            <a:off x="130629" y="2957705"/>
            <a:ext cx="4114442" cy="1169551"/>
          </a:xfrm>
          <a:prstGeom prst="rect">
            <a:avLst/>
          </a:prstGeom>
          <a:noFill/>
        </p:spPr>
        <p:txBody>
          <a:bodyPr wrap="square" rtlCol="0">
            <a:spAutoFit/>
          </a:bodyPr>
          <a:lstStyle/>
          <a:p>
            <a:pPr algn="r"/>
            <a:r>
              <a:rPr lang="fr-FR" sz="1400" dirty="0" err="1">
                <a:solidFill>
                  <a:schemeClr val="accent3">
                    <a:lumMod val="75000"/>
                  </a:schemeClr>
                </a:solidFill>
                <a:latin typeface="Congenial" panose="02000503040000020004" pitchFamily="2" charset="0"/>
              </a:rPr>
              <a:t>Espectro</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del</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exoplaneta</a:t>
            </a:r>
            <a:r>
              <a:rPr lang="fr-FR" sz="1400" dirty="0">
                <a:solidFill>
                  <a:schemeClr val="accent3">
                    <a:lumMod val="75000"/>
                  </a:schemeClr>
                </a:solidFill>
                <a:latin typeface="Congenial" panose="02000503040000020004" pitchFamily="2" charset="0"/>
              </a:rPr>
              <a:t> TOI-270d, un </a:t>
            </a:r>
            <a:r>
              <a:rPr lang="fr-FR" sz="1400" dirty="0" err="1">
                <a:solidFill>
                  <a:schemeClr val="accent3">
                    <a:lumMod val="75000"/>
                  </a:schemeClr>
                </a:solidFill>
                <a:latin typeface="Congenial" panose="02000503040000020004" pitchFamily="2" charset="0"/>
              </a:rPr>
              <a:t>exoplaneta</a:t>
            </a:r>
            <a:r>
              <a:rPr lang="fr-FR" sz="1400" dirty="0">
                <a:solidFill>
                  <a:schemeClr val="accent3">
                    <a:lumMod val="75000"/>
                  </a:schemeClr>
                </a:solidFill>
                <a:latin typeface="Congenial" panose="02000503040000020004" pitchFamily="2" charset="0"/>
              </a:rPr>
              <a:t> dos </a:t>
            </a:r>
            <a:r>
              <a:rPr lang="fr-FR" sz="1400" dirty="0" err="1">
                <a:solidFill>
                  <a:schemeClr val="accent3">
                    <a:lumMod val="75000"/>
                  </a:schemeClr>
                </a:solidFill>
                <a:latin typeface="Congenial" panose="02000503040000020004" pitchFamily="2" charset="0"/>
              </a:rPr>
              <a:t>veces</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más</a:t>
            </a:r>
            <a:r>
              <a:rPr lang="fr-FR" sz="1400" dirty="0">
                <a:solidFill>
                  <a:schemeClr val="accent3">
                    <a:lumMod val="75000"/>
                  </a:schemeClr>
                </a:solidFill>
                <a:latin typeface="Congenial" panose="02000503040000020004" pitchFamily="2" charset="0"/>
              </a:rPr>
              <a:t> grande que la Tierra.</a:t>
            </a:r>
          </a:p>
          <a:p>
            <a:pPr algn="r"/>
            <a:endParaRPr lang="fr-FR" sz="1400" dirty="0">
              <a:solidFill>
                <a:schemeClr val="accent3">
                  <a:lumMod val="75000"/>
                </a:schemeClr>
              </a:solidFill>
              <a:latin typeface="Congenial" panose="02000503040000020004" pitchFamily="2" charset="0"/>
            </a:endParaRPr>
          </a:p>
          <a:p>
            <a:pPr algn="r"/>
            <a:r>
              <a:rPr lang="fr-FR" sz="1400" dirty="0">
                <a:solidFill>
                  <a:schemeClr val="accent3">
                    <a:lumMod val="75000"/>
                  </a:schemeClr>
                </a:solidFill>
                <a:latin typeface="Congenial" panose="02000503040000020004" pitchFamily="2" charset="0"/>
              </a:rPr>
              <a:t>La </a:t>
            </a:r>
            <a:r>
              <a:rPr lang="fr-FR" sz="1400" dirty="0" err="1">
                <a:solidFill>
                  <a:schemeClr val="accent3">
                    <a:lumMod val="75000"/>
                  </a:schemeClr>
                </a:solidFill>
                <a:latin typeface="Congenial" panose="02000503040000020004" pitchFamily="2" charset="0"/>
              </a:rPr>
              <a:t>atmósfera</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contiene</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dióxido</a:t>
            </a:r>
            <a:r>
              <a:rPr lang="fr-FR" sz="1400" dirty="0">
                <a:solidFill>
                  <a:schemeClr val="accent3">
                    <a:lumMod val="75000"/>
                  </a:schemeClr>
                </a:solidFill>
                <a:latin typeface="Congenial" panose="02000503040000020004" pitchFamily="2" charset="0"/>
              </a:rPr>
              <a:t> de </a:t>
            </a:r>
            <a:r>
              <a:rPr lang="fr-FR" sz="1400" dirty="0" err="1">
                <a:solidFill>
                  <a:schemeClr val="accent3">
                    <a:lumMod val="75000"/>
                  </a:schemeClr>
                </a:solidFill>
                <a:latin typeface="Congenial" panose="02000503040000020004" pitchFamily="2" charset="0"/>
              </a:rPr>
              <a:t>carbono</a:t>
            </a:r>
            <a:r>
              <a:rPr lang="fr-FR" sz="1400" dirty="0">
                <a:solidFill>
                  <a:schemeClr val="accent3">
                    <a:lumMod val="75000"/>
                  </a:schemeClr>
                </a:solidFill>
                <a:latin typeface="Congenial" panose="02000503040000020004" pitchFamily="2" charset="0"/>
              </a:rPr>
              <a:t> (CO</a:t>
            </a:r>
            <a:r>
              <a:rPr lang="fr-FR" sz="1400" baseline="-25000" dirty="0">
                <a:solidFill>
                  <a:schemeClr val="accent3">
                    <a:lumMod val="75000"/>
                  </a:schemeClr>
                </a:solidFill>
                <a:latin typeface="Congenial" panose="02000503040000020004" pitchFamily="2" charset="0"/>
              </a:rPr>
              <a:t>2</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metano</a:t>
            </a:r>
            <a:r>
              <a:rPr lang="fr-FR" sz="1400" dirty="0">
                <a:solidFill>
                  <a:schemeClr val="accent3">
                    <a:lumMod val="75000"/>
                  </a:schemeClr>
                </a:solidFill>
                <a:latin typeface="Congenial" panose="02000503040000020004" pitchFamily="2" charset="0"/>
              </a:rPr>
              <a:t> (CH</a:t>
            </a:r>
            <a:r>
              <a:rPr lang="fr-FR" sz="1400" baseline="-25000" dirty="0">
                <a:solidFill>
                  <a:schemeClr val="accent3">
                    <a:lumMod val="75000"/>
                  </a:schemeClr>
                </a:solidFill>
                <a:latin typeface="Congenial" panose="02000503040000020004" pitchFamily="2" charset="0"/>
              </a:rPr>
              <a:t>4</a:t>
            </a:r>
            <a:r>
              <a:rPr lang="fr-FR" sz="1400" dirty="0">
                <a:solidFill>
                  <a:schemeClr val="accent3">
                    <a:lumMod val="75000"/>
                  </a:schemeClr>
                </a:solidFill>
                <a:latin typeface="Congenial" panose="02000503040000020004" pitchFamily="2" charset="0"/>
              </a:rPr>
              <a:t>) y, de </a:t>
            </a:r>
            <a:r>
              <a:rPr lang="fr-FR" sz="1400" dirty="0" err="1">
                <a:solidFill>
                  <a:schemeClr val="accent3">
                    <a:lumMod val="75000"/>
                  </a:schemeClr>
                </a:solidFill>
                <a:latin typeface="Congenial" panose="02000503040000020004" pitchFamily="2" charset="0"/>
              </a:rPr>
              <a:t>nuevo</a:t>
            </a:r>
            <a:r>
              <a:rPr lang="fr-FR" sz="1400" dirty="0">
                <a:solidFill>
                  <a:schemeClr val="accent3">
                    <a:lumMod val="75000"/>
                  </a:schemeClr>
                </a:solidFill>
                <a:latin typeface="Congenial" panose="02000503040000020004" pitchFamily="2" charset="0"/>
              </a:rPr>
              <a:t>, ¡</a:t>
            </a:r>
            <a:r>
              <a:rPr lang="fr-FR" sz="1400" dirty="0" err="1">
                <a:solidFill>
                  <a:schemeClr val="accent3">
                    <a:lumMod val="75000"/>
                  </a:schemeClr>
                </a:solidFill>
                <a:latin typeface="Congenial" panose="02000503040000020004" pitchFamily="2" charset="0"/>
              </a:rPr>
              <a:t>agua</a:t>
            </a:r>
            <a:r>
              <a:rPr lang="fr-FR" sz="1400" dirty="0">
                <a:solidFill>
                  <a:schemeClr val="accent3">
                    <a:lumMod val="75000"/>
                  </a:schemeClr>
                </a:solidFill>
                <a:latin typeface="Congenial" panose="02000503040000020004" pitchFamily="2" charset="0"/>
              </a:rPr>
              <a:t>! (H</a:t>
            </a:r>
            <a:r>
              <a:rPr lang="fr-FR" sz="1400" baseline="-25000" dirty="0">
                <a:solidFill>
                  <a:schemeClr val="accent3">
                    <a:lumMod val="75000"/>
                  </a:schemeClr>
                </a:solidFill>
                <a:latin typeface="Congenial" panose="02000503040000020004" pitchFamily="2" charset="0"/>
              </a:rPr>
              <a:t>2</a:t>
            </a:r>
            <a:r>
              <a:rPr lang="fr-FR" sz="1400" dirty="0">
                <a:solidFill>
                  <a:schemeClr val="accent3">
                    <a:lumMod val="75000"/>
                  </a:schemeClr>
                </a:solidFill>
                <a:latin typeface="Congenial" panose="02000503040000020004" pitchFamily="2" charset="0"/>
              </a:rPr>
              <a:t>O)</a:t>
            </a:r>
          </a:p>
        </p:txBody>
      </p:sp>
      <p:sp>
        <p:nvSpPr>
          <p:cNvPr id="14" name="ZoneTexte 13">
            <a:extLst>
              <a:ext uri="{FF2B5EF4-FFF2-40B4-BE49-F238E27FC236}">
                <a16:creationId xmlns:a16="http://schemas.microsoft.com/office/drawing/2014/main" id="{BA5D7FAE-83EC-5100-F1DE-D7023526A4C0}"/>
              </a:ext>
            </a:extLst>
          </p:cNvPr>
          <p:cNvSpPr txBox="1"/>
          <p:nvPr/>
        </p:nvSpPr>
        <p:spPr>
          <a:xfrm>
            <a:off x="5297830" y="4902238"/>
            <a:ext cx="4338107" cy="1600438"/>
          </a:xfrm>
          <a:prstGeom prst="rect">
            <a:avLst/>
          </a:prstGeom>
          <a:noFill/>
        </p:spPr>
        <p:txBody>
          <a:bodyPr wrap="square" rtlCol="0">
            <a:spAutoFit/>
          </a:bodyPr>
          <a:lstStyle/>
          <a:p>
            <a:r>
              <a:rPr lang="fr-FR" sz="1400" dirty="0">
                <a:solidFill>
                  <a:schemeClr val="tx2">
                    <a:lumMod val="90000"/>
                    <a:lumOff val="10000"/>
                  </a:schemeClr>
                </a:solidFill>
                <a:latin typeface="Congenial" panose="02000503040000020004" pitchFamily="2" charset="0"/>
              </a:rPr>
              <a:t>Si se </a:t>
            </a:r>
            <a:r>
              <a:rPr lang="fr-FR" sz="1400" dirty="0" err="1">
                <a:solidFill>
                  <a:schemeClr val="tx2">
                    <a:lumMod val="90000"/>
                    <a:lumOff val="10000"/>
                  </a:schemeClr>
                </a:solidFill>
                <a:latin typeface="Congenial" panose="02000503040000020004" pitchFamily="2" charset="0"/>
              </a:rPr>
              <a:t>observara</a:t>
            </a:r>
            <a:r>
              <a:rPr lang="fr-FR" sz="1400" dirty="0">
                <a:solidFill>
                  <a:schemeClr val="tx2">
                    <a:lumMod val="90000"/>
                    <a:lumOff val="10000"/>
                  </a:schemeClr>
                </a:solidFill>
                <a:latin typeface="Congenial" panose="02000503040000020004" pitchFamily="2" charset="0"/>
              </a:rPr>
              <a:t> la Tierra con </a:t>
            </a:r>
            <a:r>
              <a:rPr lang="fr-FR" sz="1400" dirty="0" err="1">
                <a:solidFill>
                  <a:schemeClr val="tx2">
                    <a:lumMod val="90000"/>
                    <a:lumOff val="10000"/>
                  </a:schemeClr>
                </a:solidFill>
                <a:latin typeface="Congenial" panose="02000503040000020004" pitchFamily="2" charset="0"/>
              </a:rPr>
              <a:t>técnicas</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similares</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sería</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posible</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detectar</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dióxido</a:t>
            </a:r>
            <a:r>
              <a:rPr lang="fr-FR" sz="1400" dirty="0">
                <a:solidFill>
                  <a:schemeClr val="tx2">
                    <a:lumMod val="90000"/>
                    <a:lumOff val="10000"/>
                  </a:schemeClr>
                </a:solidFill>
                <a:latin typeface="Congenial" panose="02000503040000020004" pitchFamily="2" charset="0"/>
              </a:rPr>
              <a:t> de </a:t>
            </a:r>
            <a:r>
              <a:rPr lang="fr-FR" sz="1400" dirty="0" err="1">
                <a:solidFill>
                  <a:schemeClr val="tx2">
                    <a:lumMod val="90000"/>
                    <a:lumOff val="10000"/>
                  </a:schemeClr>
                </a:solidFill>
                <a:latin typeface="Congenial" panose="02000503040000020004" pitchFamily="2" charset="0"/>
              </a:rPr>
              <a:t>carbono</a:t>
            </a:r>
            <a:r>
              <a:rPr lang="fr-FR" sz="1400" dirty="0">
                <a:solidFill>
                  <a:schemeClr val="tx2">
                    <a:lumMod val="90000"/>
                    <a:lumOff val="10000"/>
                  </a:schemeClr>
                </a:solidFill>
                <a:latin typeface="Congenial" panose="02000503040000020004" pitchFamily="2" charset="0"/>
              </a:rPr>
              <a:t> (CO</a:t>
            </a:r>
            <a:r>
              <a:rPr lang="fr-FR" sz="1400" baseline="-25000" dirty="0">
                <a:solidFill>
                  <a:schemeClr val="tx2">
                    <a:lumMod val="90000"/>
                    <a:lumOff val="10000"/>
                  </a:schemeClr>
                </a:solidFill>
                <a:latin typeface="Congenial" panose="02000503040000020004" pitchFamily="2" charset="0"/>
              </a:rPr>
              <a:t>2</a:t>
            </a:r>
            <a:r>
              <a:rPr lang="fr-FR" sz="1400" dirty="0">
                <a:solidFill>
                  <a:schemeClr val="tx2">
                    <a:lumMod val="90000"/>
                    <a:lumOff val="10000"/>
                  </a:schemeClr>
                </a:solidFill>
                <a:latin typeface="Congenial" panose="02000503040000020004" pitchFamily="2" charset="0"/>
              </a:rPr>
              <a:t>) y </a:t>
            </a:r>
            <a:r>
              <a:rPr lang="fr-FR" sz="1400" dirty="0" err="1">
                <a:solidFill>
                  <a:schemeClr val="tx2">
                    <a:lumMod val="90000"/>
                    <a:lumOff val="10000"/>
                  </a:schemeClr>
                </a:solidFill>
                <a:latin typeface="Congenial" panose="02000503040000020004" pitchFamily="2" charset="0"/>
              </a:rPr>
              <a:t>ozono</a:t>
            </a:r>
            <a:r>
              <a:rPr lang="fr-FR" sz="1400" dirty="0">
                <a:solidFill>
                  <a:schemeClr val="tx2">
                    <a:lumMod val="90000"/>
                    <a:lumOff val="10000"/>
                  </a:schemeClr>
                </a:solidFill>
                <a:latin typeface="Congenial" panose="02000503040000020004" pitchFamily="2" charset="0"/>
              </a:rPr>
              <a:t> (O</a:t>
            </a:r>
            <a:r>
              <a:rPr lang="fr-FR" sz="1400" baseline="-25000" dirty="0">
                <a:solidFill>
                  <a:schemeClr val="tx2">
                    <a:lumMod val="90000"/>
                    <a:lumOff val="10000"/>
                  </a:schemeClr>
                </a:solidFill>
                <a:latin typeface="Congenial" panose="02000503040000020004" pitchFamily="2" charset="0"/>
              </a:rPr>
              <a:t>3</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También</a:t>
            </a:r>
            <a:r>
              <a:rPr lang="fr-FR" sz="1400" dirty="0">
                <a:solidFill>
                  <a:schemeClr val="tx2">
                    <a:lumMod val="90000"/>
                    <a:lumOff val="10000"/>
                  </a:schemeClr>
                </a:solidFill>
                <a:latin typeface="Congenial" panose="02000503040000020004" pitchFamily="2" charset="0"/>
              </a:rPr>
              <a:t> es </a:t>
            </a:r>
            <a:r>
              <a:rPr lang="fr-FR" sz="1400" dirty="0" err="1">
                <a:solidFill>
                  <a:schemeClr val="tx2">
                    <a:lumMod val="90000"/>
                    <a:lumOff val="10000"/>
                  </a:schemeClr>
                </a:solidFill>
                <a:latin typeface="Congenial" panose="02000503040000020004" pitchFamily="2" charset="0"/>
              </a:rPr>
              <a:t>posible</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detectar</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metano</a:t>
            </a:r>
            <a:r>
              <a:rPr lang="fr-FR" sz="1400" dirty="0">
                <a:solidFill>
                  <a:schemeClr val="tx2">
                    <a:lumMod val="90000"/>
                    <a:lumOff val="10000"/>
                  </a:schemeClr>
                </a:solidFill>
                <a:latin typeface="Congenial" panose="02000503040000020004" pitchFamily="2" charset="0"/>
              </a:rPr>
              <a:t> (CH</a:t>
            </a:r>
            <a:r>
              <a:rPr lang="fr-FR" sz="1400" baseline="-25000" dirty="0">
                <a:solidFill>
                  <a:schemeClr val="tx2">
                    <a:lumMod val="90000"/>
                    <a:lumOff val="10000"/>
                  </a:schemeClr>
                </a:solidFill>
                <a:latin typeface="Congenial" panose="02000503040000020004" pitchFamily="2" charset="0"/>
              </a:rPr>
              <a:t>4</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agua</a:t>
            </a:r>
            <a:r>
              <a:rPr lang="fr-FR" sz="1400" dirty="0">
                <a:solidFill>
                  <a:schemeClr val="tx2">
                    <a:lumMod val="90000"/>
                    <a:lumOff val="10000"/>
                  </a:schemeClr>
                </a:solidFill>
                <a:latin typeface="Congenial" panose="02000503040000020004" pitchFamily="2" charset="0"/>
              </a:rPr>
              <a:t> (H</a:t>
            </a:r>
            <a:r>
              <a:rPr lang="fr-FR" sz="1400" baseline="-25000" dirty="0">
                <a:solidFill>
                  <a:schemeClr val="tx2">
                    <a:lumMod val="90000"/>
                    <a:lumOff val="10000"/>
                  </a:schemeClr>
                </a:solidFill>
                <a:latin typeface="Congenial" panose="02000503040000020004" pitchFamily="2" charset="0"/>
              </a:rPr>
              <a:t>2</a:t>
            </a:r>
            <a:r>
              <a:rPr lang="fr-FR" sz="1400" dirty="0">
                <a:solidFill>
                  <a:schemeClr val="tx2">
                    <a:lumMod val="90000"/>
                    <a:lumOff val="10000"/>
                  </a:schemeClr>
                </a:solidFill>
                <a:latin typeface="Congenial" panose="02000503040000020004" pitchFamily="2" charset="0"/>
              </a:rPr>
              <a:t>O) y... </a:t>
            </a:r>
            <a:r>
              <a:rPr lang="fr-FR" sz="1400" dirty="0" err="1">
                <a:solidFill>
                  <a:schemeClr val="tx2">
                    <a:lumMod val="90000"/>
                    <a:lumOff val="10000"/>
                  </a:schemeClr>
                </a:solidFill>
                <a:latin typeface="Congenial" panose="02000503040000020004" pitchFamily="2" charset="0"/>
              </a:rPr>
              <a:t>moléculas</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producidas</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por</a:t>
            </a:r>
            <a:r>
              <a:rPr lang="fr-FR" sz="1400" dirty="0">
                <a:solidFill>
                  <a:schemeClr val="tx2">
                    <a:lumMod val="90000"/>
                    <a:lumOff val="10000"/>
                  </a:schemeClr>
                </a:solidFill>
                <a:latin typeface="Congenial" panose="02000503040000020004" pitchFamily="2" charset="0"/>
              </a:rPr>
              <a:t> la </a:t>
            </a:r>
            <a:r>
              <a:rPr lang="fr-FR" sz="1400" dirty="0" err="1">
                <a:solidFill>
                  <a:schemeClr val="tx2">
                    <a:lumMod val="90000"/>
                    <a:lumOff val="10000"/>
                  </a:schemeClr>
                </a:solidFill>
                <a:latin typeface="Congenial" panose="02000503040000020004" pitchFamily="2" charset="0"/>
              </a:rPr>
              <a:t>actividad</a:t>
            </a:r>
            <a:r>
              <a:rPr lang="fr-FR" sz="1400" dirty="0">
                <a:solidFill>
                  <a:schemeClr val="tx2">
                    <a:lumMod val="90000"/>
                    <a:lumOff val="10000"/>
                  </a:schemeClr>
                </a:solidFill>
                <a:latin typeface="Congenial" panose="02000503040000020004" pitchFamily="2" charset="0"/>
              </a:rPr>
              <a:t> </a:t>
            </a:r>
            <a:r>
              <a:rPr lang="fr-FR" sz="1400" dirty="0" err="1">
                <a:solidFill>
                  <a:schemeClr val="tx2">
                    <a:lumMod val="90000"/>
                    <a:lumOff val="10000"/>
                  </a:schemeClr>
                </a:solidFill>
                <a:latin typeface="Congenial" panose="02000503040000020004" pitchFamily="2" charset="0"/>
              </a:rPr>
              <a:t>humana</a:t>
            </a:r>
            <a:r>
              <a:rPr lang="fr-FR" sz="1400" dirty="0">
                <a:solidFill>
                  <a:schemeClr val="tx2">
                    <a:lumMod val="90000"/>
                    <a:lumOff val="10000"/>
                  </a:schemeClr>
                </a:solidFill>
                <a:latin typeface="Congenial" panose="02000503040000020004" pitchFamily="2" charset="0"/>
              </a:rPr>
              <a:t>: los </a:t>
            </a:r>
            <a:r>
              <a:rPr lang="fr-FR" sz="1400" dirty="0" err="1">
                <a:solidFill>
                  <a:schemeClr val="tx2">
                    <a:lumMod val="90000"/>
                    <a:lumOff val="10000"/>
                  </a:schemeClr>
                </a:solidFill>
                <a:latin typeface="Congenial" panose="02000503040000020004" pitchFamily="2" charset="0"/>
              </a:rPr>
              <a:t>clorofluorocarbonos</a:t>
            </a:r>
            <a:r>
              <a:rPr lang="fr-FR" sz="1400" dirty="0">
                <a:solidFill>
                  <a:schemeClr val="tx2">
                    <a:lumMod val="90000"/>
                    <a:lumOff val="10000"/>
                  </a:schemeClr>
                </a:solidFill>
                <a:latin typeface="Congenial" panose="02000503040000020004" pitchFamily="2" charset="0"/>
              </a:rPr>
              <a:t> (CFC). En la Tierra, los CFC son responsables de la </a:t>
            </a:r>
            <a:r>
              <a:rPr lang="fr-FR" sz="1400" dirty="0" err="1">
                <a:solidFill>
                  <a:schemeClr val="tx2">
                    <a:lumMod val="90000"/>
                    <a:lumOff val="10000"/>
                  </a:schemeClr>
                </a:solidFill>
                <a:latin typeface="Congenial" panose="02000503040000020004" pitchFamily="2" charset="0"/>
              </a:rPr>
              <a:t>destrucción</a:t>
            </a:r>
            <a:r>
              <a:rPr lang="fr-FR" sz="1400" dirty="0">
                <a:solidFill>
                  <a:schemeClr val="tx2">
                    <a:lumMod val="90000"/>
                    <a:lumOff val="10000"/>
                  </a:schemeClr>
                </a:solidFill>
                <a:latin typeface="Congenial" panose="02000503040000020004" pitchFamily="2" charset="0"/>
              </a:rPr>
              <a:t> de la capa de </a:t>
            </a:r>
            <a:r>
              <a:rPr lang="fr-FR" sz="1400" dirty="0" err="1">
                <a:solidFill>
                  <a:schemeClr val="tx2">
                    <a:lumMod val="90000"/>
                    <a:lumOff val="10000"/>
                  </a:schemeClr>
                </a:solidFill>
                <a:latin typeface="Congenial" panose="02000503040000020004" pitchFamily="2" charset="0"/>
              </a:rPr>
              <a:t>ozono</a:t>
            </a:r>
            <a:r>
              <a:rPr lang="fr-FR" sz="1400" dirty="0">
                <a:solidFill>
                  <a:schemeClr val="tx2">
                    <a:lumMod val="90000"/>
                    <a:lumOff val="10000"/>
                  </a:schemeClr>
                </a:solidFill>
                <a:latin typeface="Congenial" panose="02000503040000020004" pitchFamily="2" charset="0"/>
              </a:rPr>
              <a:t>.</a:t>
            </a:r>
          </a:p>
        </p:txBody>
      </p:sp>
      <p:sp>
        <p:nvSpPr>
          <p:cNvPr id="2" name="ZoneTexte 1">
            <a:extLst>
              <a:ext uri="{FF2B5EF4-FFF2-40B4-BE49-F238E27FC236}">
                <a16:creationId xmlns:a16="http://schemas.microsoft.com/office/drawing/2014/main" id="{33569487-6EDC-2FCA-B6B6-E1A20169F4BD}"/>
              </a:ext>
            </a:extLst>
          </p:cNvPr>
          <p:cNvSpPr txBox="1"/>
          <p:nvPr/>
        </p:nvSpPr>
        <p:spPr>
          <a:xfrm>
            <a:off x="3647529" y="6657782"/>
            <a:ext cx="1909204" cy="230832"/>
          </a:xfrm>
          <a:prstGeom prst="rect">
            <a:avLst/>
          </a:prstGeom>
          <a:noFill/>
        </p:spPr>
        <p:txBody>
          <a:bodyPr wrap="square">
            <a:spAutoFit/>
          </a:bodyPr>
          <a:lstStyle/>
          <a:p>
            <a:r>
              <a:rPr lang="fr-FR" sz="900" dirty="0">
                <a:solidFill>
                  <a:schemeClr val="accent4"/>
                </a:solidFill>
                <a:latin typeface="Congenial" panose="02000503040000020004" pitchFamily="2" charset="0"/>
              </a:rPr>
              <a:t>Macdonald &amp; Cowan (2019)</a:t>
            </a:r>
            <a:endParaRPr lang="fr-FR" sz="1000" dirty="0">
              <a:solidFill>
                <a:schemeClr val="accent4"/>
              </a:solidFill>
            </a:endParaRPr>
          </a:p>
        </p:txBody>
      </p:sp>
      <p:pic>
        <p:nvPicPr>
          <p:cNvPr id="3" name="Image 2" descr="Download Exoplanet, Planet, Cosmos. Royalty-Free Stock Illustration Image -  Pixabay">
            <a:extLst>
              <a:ext uri="{FF2B5EF4-FFF2-40B4-BE49-F238E27FC236}">
                <a16:creationId xmlns:a16="http://schemas.microsoft.com/office/drawing/2014/main" id="{631274DD-22DA-0646-8644-3E5642CED2DD}"/>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359513" y="2112793"/>
            <a:ext cx="986824" cy="986824"/>
          </a:xfrm>
          <a:prstGeom prst="rect">
            <a:avLst/>
          </a:prstGeom>
        </p:spPr>
      </p:pic>
      <p:pic>
        <p:nvPicPr>
          <p:cNvPr id="7" name="Image 6" descr="A mesmerizing view of a vibrant exoplanet with swirling clouds of blue  orange and red hues 60378214 PNG">
            <a:extLst>
              <a:ext uri="{FF2B5EF4-FFF2-40B4-BE49-F238E27FC236}">
                <a16:creationId xmlns:a16="http://schemas.microsoft.com/office/drawing/2014/main" id="{52027C59-861E-2438-A136-15E327BC8231}"/>
              </a:ext>
            </a:extLst>
          </p:cNvPr>
          <p:cNvPicPr>
            <a:picLocks noChangeAspect="1"/>
          </p:cNvPicPr>
          <p:nvPr/>
        </p:nvPicPr>
        <p:blipFill>
          <a:blip r:embed="rId6"/>
          <a:stretch>
            <a:fillRect/>
          </a:stretch>
        </p:blipFill>
        <p:spPr>
          <a:xfrm>
            <a:off x="130629" y="1910776"/>
            <a:ext cx="1066286" cy="1066286"/>
          </a:xfrm>
          <a:prstGeom prst="rect">
            <a:avLst/>
          </a:prstGeom>
        </p:spPr>
      </p:pic>
      <p:pic>
        <p:nvPicPr>
          <p:cNvPr id="15" name="Image 14" descr="Planet Earth Png - Earth Png No Background, Transparent Png - vhv">
            <a:extLst>
              <a:ext uri="{FF2B5EF4-FFF2-40B4-BE49-F238E27FC236}">
                <a16:creationId xmlns:a16="http://schemas.microsoft.com/office/drawing/2014/main" id="{DF9B3456-6F56-3C6A-9A7C-9D8E4F852355}"/>
              </a:ext>
            </a:extLst>
          </p:cNvPr>
          <p:cNvPicPr>
            <a:picLocks noChangeAspect="1"/>
          </p:cNvPicPr>
          <p:nvPr/>
        </p:nvPicPr>
        <p:blipFill>
          <a:blip r:embed="rId7">
            <a:clrChange>
              <a:clrFrom>
                <a:srgbClr val="EEEEEE"/>
              </a:clrFrom>
              <a:clrTo>
                <a:srgbClr val="EEEEEE">
                  <a:alpha val="0"/>
                </a:srgbClr>
              </a:clrTo>
            </a:clrChange>
          </a:blip>
          <a:stretch>
            <a:fillRect/>
          </a:stretch>
        </p:blipFill>
        <p:spPr>
          <a:xfrm>
            <a:off x="3655047" y="4975860"/>
            <a:ext cx="876513" cy="900974"/>
          </a:xfrm>
          <a:prstGeom prst="rect">
            <a:avLst/>
          </a:prstGeom>
        </p:spPr>
      </p:pic>
      <p:pic>
        <p:nvPicPr>
          <p:cNvPr id="16" name="Image 15" descr="File:JWST spacecraft model 3.png - Wikimedia Commons">
            <a:extLst>
              <a:ext uri="{FF2B5EF4-FFF2-40B4-BE49-F238E27FC236}">
                <a16:creationId xmlns:a16="http://schemas.microsoft.com/office/drawing/2014/main" id="{98671D2D-77FB-6C78-593C-78B492481208}"/>
              </a:ext>
            </a:extLst>
          </p:cNvPr>
          <p:cNvPicPr>
            <a:picLocks noChangeAspect="1"/>
          </p:cNvPicPr>
          <p:nvPr/>
        </p:nvPicPr>
        <p:blipFill>
          <a:blip r:embed="rId8"/>
          <a:stretch>
            <a:fillRect/>
          </a:stretch>
        </p:blipFill>
        <p:spPr>
          <a:xfrm>
            <a:off x="8169347" y="77459"/>
            <a:ext cx="1513834" cy="1297847"/>
          </a:xfrm>
          <a:prstGeom prst="rect">
            <a:avLst/>
          </a:prstGeom>
        </p:spPr>
      </p:pic>
      <p:sp>
        <p:nvSpPr>
          <p:cNvPr id="17" name="ZoneTexte 16">
            <a:extLst>
              <a:ext uri="{FF2B5EF4-FFF2-40B4-BE49-F238E27FC236}">
                <a16:creationId xmlns:a16="http://schemas.microsoft.com/office/drawing/2014/main" id="{00F43DC8-590D-2426-D495-6538A174028B}"/>
              </a:ext>
            </a:extLst>
          </p:cNvPr>
          <p:cNvSpPr txBox="1"/>
          <p:nvPr/>
        </p:nvSpPr>
        <p:spPr>
          <a:xfrm>
            <a:off x="6436537" y="164200"/>
            <a:ext cx="2076433" cy="523220"/>
          </a:xfrm>
          <a:prstGeom prst="rect">
            <a:avLst/>
          </a:prstGeom>
          <a:noFill/>
        </p:spPr>
        <p:txBody>
          <a:bodyPr wrap="square" rtlCol="0">
            <a:spAutoFit/>
          </a:bodyPr>
          <a:lstStyle/>
          <a:p>
            <a:pPr algn="r"/>
            <a:r>
              <a:rPr lang="fr-FR" sz="1400" dirty="0" err="1">
                <a:solidFill>
                  <a:srgbClr val="B78901"/>
                </a:solidFill>
                <a:latin typeface="Congenial" panose="02000503040000020004" pitchFamily="2" charset="0"/>
              </a:rPr>
              <a:t>telescopio</a:t>
            </a:r>
            <a:r>
              <a:rPr lang="fr-FR" sz="1400" dirty="0">
                <a:solidFill>
                  <a:srgbClr val="B78901"/>
                </a:solidFill>
                <a:latin typeface="Congenial" panose="02000503040000020004" pitchFamily="2" charset="0"/>
              </a:rPr>
              <a:t> </a:t>
            </a:r>
            <a:r>
              <a:rPr lang="fr-FR" sz="1400" dirty="0" err="1">
                <a:solidFill>
                  <a:srgbClr val="B78901"/>
                </a:solidFill>
                <a:latin typeface="Congenial" panose="02000503040000020004" pitchFamily="2" charset="0"/>
              </a:rPr>
              <a:t>espacial</a:t>
            </a:r>
            <a:r>
              <a:rPr lang="fr-FR" sz="1400" dirty="0">
                <a:solidFill>
                  <a:srgbClr val="B78901"/>
                </a:solidFill>
                <a:latin typeface="Congenial" panose="02000503040000020004" pitchFamily="2" charset="0"/>
              </a:rPr>
              <a:t> James Webb (JWST)</a:t>
            </a:r>
          </a:p>
        </p:txBody>
      </p:sp>
    </p:spTree>
    <p:extLst>
      <p:ext uri="{BB962C8B-B14F-4D97-AF65-F5344CB8AC3E}">
        <p14:creationId xmlns:p14="http://schemas.microsoft.com/office/powerpoint/2010/main" val="110202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4AF19-AB4F-1660-B62E-ED38D0F5804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74D9B2E3-E671-4714-7F3C-908C1D304EBF}"/>
              </a:ext>
            </a:extLst>
          </p:cNvPr>
          <p:cNvPicPr>
            <a:picLocks noChangeAspect="1"/>
          </p:cNvPicPr>
          <p:nvPr/>
        </p:nvPicPr>
        <p:blipFill>
          <a:blip r:embed="rId2">
            <a:clrChange>
              <a:clrFrom>
                <a:srgbClr val="F7F7F4"/>
              </a:clrFrom>
              <a:clrTo>
                <a:srgbClr val="F7F7F4">
                  <a:alpha val="0"/>
                </a:srgbClr>
              </a:clrTo>
            </a:clrChange>
          </a:blip>
          <a:stretch>
            <a:fillRect/>
          </a:stretch>
        </p:blipFill>
        <p:spPr>
          <a:xfrm>
            <a:off x="453000" y="491264"/>
            <a:ext cx="9000000" cy="5875471"/>
          </a:xfrm>
          <a:prstGeom prst="rect">
            <a:avLst/>
          </a:prstGeom>
        </p:spPr>
      </p:pic>
    </p:spTree>
    <p:extLst>
      <p:ext uri="{BB962C8B-B14F-4D97-AF65-F5344CB8AC3E}">
        <p14:creationId xmlns:p14="http://schemas.microsoft.com/office/powerpoint/2010/main" val="3584741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B2899-7761-9CD0-0D50-AB408F69C5F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139F70C0-7BF4-C866-3DCC-A0354C4E8049}"/>
              </a:ext>
            </a:extLst>
          </p:cNvPr>
          <p:cNvPicPr>
            <a:picLocks noChangeAspect="1"/>
          </p:cNvPicPr>
          <p:nvPr/>
        </p:nvPicPr>
        <p:blipFill>
          <a:blip r:embed="rId2">
            <a:clrChange>
              <a:clrFrom>
                <a:srgbClr val="F7F7F4"/>
              </a:clrFrom>
              <a:clrTo>
                <a:srgbClr val="F7F7F4">
                  <a:alpha val="0"/>
                </a:srgbClr>
              </a:clrTo>
            </a:clrChange>
          </a:blip>
          <a:stretch>
            <a:fillRect/>
          </a:stretch>
        </p:blipFill>
        <p:spPr>
          <a:xfrm>
            <a:off x="453000" y="491264"/>
            <a:ext cx="9000000" cy="5875471"/>
          </a:xfrm>
          <a:prstGeom prst="rect">
            <a:avLst/>
          </a:prstGeom>
        </p:spPr>
      </p:pic>
    </p:spTree>
    <p:extLst>
      <p:ext uri="{BB962C8B-B14F-4D97-AF65-F5344CB8AC3E}">
        <p14:creationId xmlns:p14="http://schemas.microsoft.com/office/powerpoint/2010/main" val="175703432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646</TotalTime>
  <Words>161</Words>
  <Application>Microsoft Macintosh PowerPoint</Application>
  <PresentationFormat>Format A4 (210 x 297 mm)</PresentationFormat>
  <Paragraphs>11</Paragraphs>
  <Slides>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Aptos</vt:lpstr>
      <vt:lpstr>Aptos Display</vt:lpstr>
      <vt:lpstr>Arial</vt:lpstr>
      <vt:lpstr>Congenial</vt:lpstr>
      <vt:lpstr>Thème Office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Artem Aguichine</dc:creator>
  <cp:lastModifiedBy>Artem Aguichine</cp:lastModifiedBy>
  <cp:revision>9</cp:revision>
  <dcterms:created xsi:type="dcterms:W3CDTF">2026-09-25T06:06:26Z</dcterms:created>
  <dcterms:modified xsi:type="dcterms:W3CDTF">2026-10-11T00:07:03Z</dcterms:modified>
</cp:coreProperties>
</file>